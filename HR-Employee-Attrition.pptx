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40" d="100"/>
          <a:sy n="40" d="100"/>
        </p:scale>
        <p:origin x="84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661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567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902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2426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1489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0417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978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932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822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7396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652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A6D6275E-6FA6-4039-804F-F30B5C567EC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328562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0F07-4659-B322-4835-7C356CBE9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1F3B73"/>
                </a:solidFill>
                <a:latin typeface="Montserrat"/>
              </a:rPr>
              <a:t>HR Employee Attrition &amp; Performance Analysis</a:t>
            </a:r>
            <a:endParaRPr lang="en-AE" sz="44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AA33F-8C25-E37A-2600-7D266E625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</a:pPr>
            <a:r>
              <a:rPr lang="en-US" sz="2350" dirty="0">
                <a:solidFill>
                  <a:srgbClr val="2AA198"/>
                </a:solidFill>
                <a:latin typeface="Montserrat Medium"/>
              </a:rPr>
              <a:t>Insights from Excel, Python, SQL, Power BI, and Tableau</a:t>
            </a:r>
            <a:endParaRPr lang="en-AE" sz="2350" dirty="0">
              <a:solidFill>
                <a:srgbClr val="2AA198"/>
              </a:solidFill>
              <a:latin typeface="Montserrat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55C93-38E2-C67C-BD25-334B6DACCD6F}"/>
              </a:ext>
            </a:extLst>
          </p:cNvPr>
          <p:cNvSpPr txBox="1"/>
          <p:nvPr/>
        </p:nvSpPr>
        <p:spPr>
          <a:xfrm>
            <a:off x="4185557" y="5052054"/>
            <a:ext cx="3820886" cy="70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333333"/>
                </a:solidFill>
                <a:latin typeface="Montserrat"/>
              </a:rPr>
              <a:t>Prepared By: </a:t>
            </a:r>
            <a:r>
              <a:rPr lang="en-US" sz="1800" dirty="0">
                <a:solidFill>
                  <a:srgbClr val="333333"/>
                </a:solidFill>
                <a:latin typeface="Montserrat"/>
              </a:rPr>
              <a:t>Shafana Shereef</a:t>
            </a: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333333"/>
                </a:solidFill>
                <a:latin typeface="Montserrat"/>
              </a:rPr>
              <a:t>Date: 29 </a:t>
            </a:r>
            <a:r>
              <a:rPr lang="en-US" sz="1800" dirty="0">
                <a:solidFill>
                  <a:srgbClr val="333333"/>
                </a:solidFill>
                <a:latin typeface="Montserrat"/>
              </a:rPr>
              <a:t>Jan 2026</a:t>
            </a:r>
            <a:endParaRPr lang="en-AE" sz="1800" dirty="0">
              <a:solidFill>
                <a:srgbClr val="333333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503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0271-9BA0-1BD1-68C2-196B7D94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1088476"/>
          </a:xfrm>
        </p:spPr>
        <p:txBody>
          <a:bodyPr>
            <a:normAutofit/>
          </a:bodyPr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Business Context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9452E-427D-A8B9-71EC-1177F4CCF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94114"/>
            <a:ext cx="11360800" cy="23676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333333"/>
                </a:solidFill>
                <a:latin typeface="Montserrat"/>
              </a:rPr>
              <a:t>Employee attrition affects workforce stability.</a:t>
            </a:r>
          </a:p>
          <a:p>
            <a:r>
              <a:rPr lang="en-US" sz="2800" dirty="0">
                <a:solidFill>
                  <a:srgbClr val="333333"/>
                </a:solidFill>
                <a:latin typeface="Montserrat"/>
              </a:rPr>
              <a:t>Goal: Identify </a:t>
            </a:r>
            <a:r>
              <a:rPr lang="en-US" sz="2800" b="1" dirty="0">
                <a:solidFill>
                  <a:srgbClr val="2AA198"/>
                </a:solidFill>
                <a:latin typeface="Montserrat"/>
              </a:rPr>
              <a:t>who is leaving, why, and where</a:t>
            </a:r>
            <a:r>
              <a:rPr lang="en-US" sz="2600" b="1" dirty="0">
                <a:solidFill>
                  <a:srgbClr val="2AA198"/>
                </a:solidFill>
                <a:latin typeface="Montserrat"/>
              </a:rPr>
              <a:t> </a:t>
            </a:r>
            <a:r>
              <a:rPr lang="en-US" sz="2800" dirty="0">
                <a:solidFill>
                  <a:srgbClr val="333333"/>
                </a:solidFill>
                <a:latin typeface="Montserrat"/>
              </a:rPr>
              <a:t>to help HR take action.</a:t>
            </a:r>
          </a:p>
          <a:p>
            <a:r>
              <a:rPr lang="en-US" sz="2800" dirty="0">
                <a:solidFill>
                  <a:srgbClr val="333333"/>
                </a:solidFill>
                <a:latin typeface="Montserrat"/>
              </a:rPr>
              <a:t>Dataset: IBM HR Employee Attrition &amp; Performance, 1,470 employees</a:t>
            </a:r>
          </a:p>
          <a:p>
            <a:pPr marL="152396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6710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9417-B436-D510-8FBF-8B9DEB32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1268090"/>
          </a:xfrm>
        </p:spPr>
        <p:txBody>
          <a:bodyPr/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Data Preparation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A40E10-FCAD-A068-6FEE-CB20957A5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3382" y="1870690"/>
            <a:ext cx="12922127" cy="177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05000"/>
              </a:lnSpc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Attrition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 renamed: Yes → Left, No → Stayed</a:t>
            </a:r>
          </a:p>
          <a:p>
            <a:pPr fontAlgn="base">
              <a:lnSpc>
                <a:spcPct val="105000"/>
              </a:lnSpc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Age Groups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: Young (18–25), Adult (26–35), Mid-Age (36–45), Senior (46–60)</a:t>
            </a:r>
          </a:p>
          <a:p>
            <a:pPr fontAlgn="base">
              <a:lnSpc>
                <a:spcPct val="105000"/>
              </a:lnSpc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Income Levels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: Low, Medium, High, Very High</a:t>
            </a:r>
          </a:p>
          <a:p>
            <a:pPr fontAlgn="base">
              <a:lnSpc>
                <a:spcPct val="105000"/>
              </a:lnSpc>
            </a:pP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Standardized preprocessing for all tools</a:t>
            </a:r>
          </a:p>
        </p:txBody>
      </p:sp>
    </p:spTree>
    <p:extLst>
      <p:ext uri="{BB962C8B-B14F-4D97-AF65-F5344CB8AC3E}">
        <p14:creationId xmlns:p14="http://schemas.microsoft.com/office/powerpoint/2010/main" val="529092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02FB-9011-52FA-5CD8-597119E7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6"/>
            <a:ext cx="11360800" cy="1121133"/>
          </a:xfrm>
        </p:spPr>
        <p:txBody>
          <a:bodyPr/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Excel Insights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0BCC65-45C8-7CD1-9176-061713EDF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1667491"/>
            <a:ext cx="11360801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Most employees </a:t>
            </a: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stay with the company 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(84% retention).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Attrition rate is </a:t>
            </a: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16%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 (1 in 6 employees leave).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Sales department and sales roles 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have higher attrition.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Younger employees 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leave more than older employees.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Low-income employees 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leave more; high-income employees stay.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Employees working </a:t>
            </a: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overtime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 have high attrition (31%).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Senior and managerial roles 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are the most stable.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600" b="1" dirty="0">
                <a:solidFill>
                  <a:srgbClr val="2AA198"/>
                </a:solidFill>
                <a:latin typeface="Montserrat"/>
              </a:rPr>
              <a:t>Summary</a:t>
            </a:r>
            <a:r>
              <a:rPr lang="en-US" altLang="en-US" sz="2600" dirty="0">
                <a:solidFill>
                  <a:srgbClr val="333333"/>
                </a:solidFill>
                <a:latin typeface="Montserrat"/>
              </a:rPr>
              <a:t>: Attrition is higher in sales, young, low-paid, and overtime employees.</a:t>
            </a:r>
          </a:p>
        </p:txBody>
      </p:sp>
    </p:spTree>
    <p:extLst>
      <p:ext uri="{BB962C8B-B14F-4D97-AF65-F5344CB8AC3E}">
        <p14:creationId xmlns:p14="http://schemas.microsoft.com/office/powerpoint/2010/main" val="317844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6F0-4880-0EC1-B319-1239C0FC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30573"/>
            <a:ext cx="11360800" cy="685800"/>
          </a:xfrm>
        </p:spPr>
        <p:txBody>
          <a:bodyPr>
            <a:normAutofit fontScale="90000"/>
          </a:bodyPr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Python Insights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7B0C2C-1690-E64A-740B-FBD040D96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1" y="932531"/>
            <a:ext cx="1136079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05000"/>
              </a:lnSpc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Overall retention is good; 15–20% employees leave.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Young and adult employees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leave more than mid-age or senior staff.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Low-income employees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leave more; higher income improves retention.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Sales and laboratory roles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have the highest attrition.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Overtime work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 increases attrition risk.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Low job satisfaction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leads to more attrition.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Poor work-life balance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increases the chance of leaving.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Short tenure employees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leave more; long-tenure employees mostly stay.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Long distance from home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slightly increases attrition risk.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Salary hikes and promotions alone do not prevent attrition.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Summary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: Attrition is caused by a mix of young age, low pay, overtime, low satisfaction, and poor work-life balance.</a:t>
            </a:r>
          </a:p>
        </p:txBody>
      </p:sp>
    </p:spTree>
    <p:extLst>
      <p:ext uri="{BB962C8B-B14F-4D97-AF65-F5344CB8AC3E}">
        <p14:creationId xmlns:p14="http://schemas.microsoft.com/office/powerpoint/2010/main" val="134641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E2B5-6877-47C0-E97E-EE3F195F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6"/>
            <a:ext cx="11360800" cy="1051041"/>
          </a:xfrm>
        </p:spPr>
        <p:txBody>
          <a:bodyPr/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SQL Insights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96C09D-047B-9AA3-9DA5-26FED7061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1721852"/>
            <a:ext cx="11360800" cy="47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Total employees: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1,470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; 16% left (~237 employees).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Departments with high attrition: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R&amp;D and Sales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Roles with high attrition: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Lab Technicians, Sales Executives, Research Scientists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Lower income employees leave more; higher income supports retention.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Overtime employees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leave more often than those without overtime.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Early tenure (first year)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has the highest attrition.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Higher education leads to higher pay and better retention.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High-risk group: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Low income + overtime in operational/sales roles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Summary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: Focus on pay, workload, and career progression for high-risk groups.</a:t>
            </a:r>
          </a:p>
        </p:txBody>
      </p:sp>
    </p:spTree>
    <p:extLst>
      <p:ext uri="{BB962C8B-B14F-4D97-AF65-F5344CB8AC3E}">
        <p14:creationId xmlns:p14="http://schemas.microsoft.com/office/powerpoint/2010/main" val="407532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1010-A7C2-1702-F003-6783EFE9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943266"/>
          </a:xfrm>
        </p:spPr>
        <p:txBody>
          <a:bodyPr/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Power BI Insights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2F3423-8B03-2807-F2B7-729A4B3C3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1" y="2022974"/>
            <a:ext cx="11360800" cy="358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05000"/>
              </a:lnSpc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Total employees: 1,470; Left: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237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; Stayed: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1,233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Attrition rate: 16% → moderate to high.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High-risk roles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: Sales reps, Lab Technicians.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High-risk groups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: Young employees, early-career, low satisfaction, high overtime.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Stable groups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: Senior staff, managers, specialized technical roles.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Key drivers: Role type, early-career stage, pay, work-life balance.</a:t>
            </a:r>
          </a:p>
          <a:p>
            <a:pPr fontAlgn="base">
              <a:lnSpc>
                <a:spcPct val="105000"/>
              </a:lnSpc>
            </a:pP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Recommendation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: Use dashboards to mentor, support, and motivate high-risk employees.</a:t>
            </a:r>
          </a:p>
        </p:txBody>
      </p:sp>
    </p:spTree>
    <p:extLst>
      <p:ext uri="{BB962C8B-B14F-4D97-AF65-F5344CB8AC3E}">
        <p14:creationId xmlns:p14="http://schemas.microsoft.com/office/powerpoint/2010/main" val="332501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CF0D-72D0-8EAC-3158-C2A21BAC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Tableau Insights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60FFE-394E-89CE-86D2-8ECC92CAF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60299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E918-70F9-322C-7BE0-470547B0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Key Findings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0A67A-5972-2E33-FDE1-0A85BDD78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lnSpc>
                <a:spcPct val="105000"/>
              </a:lnSpc>
            </a:pPr>
            <a:r>
              <a:rPr lang="en-US" sz="2400" dirty="0">
                <a:solidFill>
                  <a:srgbClr val="333333"/>
                </a:solidFill>
                <a:latin typeface="Montserrat"/>
              </a:rPr>
              <a:t>Attrition is highest among </a:t>
            </a:r>
            <a:r>
              <a:rPr lang="en-US" sz="2400" b="1" dirty="0">
                <a:solidFill>
                  <a:srgbClr val="2AA198"/>
                </a:solidFill>
                <a:latin typeface="Montserrat"/>
              </a:rPr>
              <a:t>young, low-paid, overtime-working employees</a:t>
            </a:r>
            <a:r>
              <a:rPr lang="en-US" sz="2400" dirty="0">
                <a:solidFill>
                  <a:srgbClr val="333333"/>
                </a:solidFill>
                <a:latin typeface="Montserrat"/>
              </a:rPr>
              <a:t>.</a:t>
            </a:r>
          </a:p>
          <a:p>
            <a:pPr fontAlgn="base">
              <a:lnSpc>
                <a:spcPct val="105000"/>
              </a:lnSpc>
            </a:pPr>
            <a:r>
              <a:rPr lang="en-US" sz="2400" dirty="0">
                <a:solidFill>
                  <a:srgbClr val="333333"/>
                </a:solidFill>
                <a:latin typeface="Montserrat"/>
              </a:rPr>
              <a:t>Sales, Lab, and early-career roles are </a:t>
            </a:r>
            <a:r>
              <a:rPr lang="en-US" sz="2400" b="1" dirty="0">
                <a:solidFill>
                  <a:srgbClr val="2AA198"/>
                </a:solidFill>
                <a:latin typeface="Montserrat"/>
              </a:rPr>
              <a:t>high-risk groups</a:t>
            </a:r>
            <a:r>
              <a:rPr lang="en-US" sz="2400" dirty="0">
                <a:solidFill>
                  <a:srgbClr val="333333"/>
                </a:solidFill>
                <a:latin typeface="Montserrat"/>
              </a:rPr>
              <a:t>.</a:t>
            </a:r>
          </a:p>
          <a:p>
            <a:pPr fontAlgn="base">
              <a:lnSpc>
                <a:spcPct val="105000"/>
              </a:lnSpc>
            </a:pPr>
            <a:r>
              <a:rPr lang="en-US" sz="2400" dirty="0">
                <a:solidFill>
                  <a:srgbClr val="333333"/>
                </a:solidFill>
                <a:latin typeface="Montserrat"/>
              </a:rPr>
              <a:t>Senior roles and higher-paid employees have </a:t>
            </a:r>
            <a:r>
              <a:rPr lang="en-US" sz="2400" b="1" dirty="0">
                <a:solidFill>
                  <a:srgbClr val="2AA198"/>
                </a:solidFill>
                <a:latin typeface="Montserrat"/>
              </a:rPr>
              <a:t>strong retention</a:t>
            </a:r>
            <a:r>
              <a:rPr lang="en-US" sz="2400" dirty="0">
                <a:solidFill>
                  <a:srgbClr val="333333"/>
                </a:solidFill>
                <a:latin typeface="Montserrat"/>
              </a:rPr>
              <a:t>.</a:t>
            </a:r>
          </a:p>
          <a:p>
            <a:pPr fontAlgn="base">
              <a:lnSpc>
                <a:spcPct val="105000"/>
              </a:lnSpc>
            </a:pPr>
            <a:r>
              <a:rPr lang="en-US" sz="2400" b="1" dirty="0">
                <a:solidFill>
                  <a:srgbClr val="2AA198"/>
                </a:solidFill>
                <a:latin typeface="Montserrat"/>
              </a:rPr>
              <a:t>Low job satisfaction and poor work-life balance </a:t>
            </a:r>
            <a:r>
              <a:rPr lang="en-US" sz="2400" dirty="0">
                <a:solidFill>
                  <a:srgbClr val="333333"/>
                </a:solidFill>
                <a:latin typeface="Montserrat"/>
              </a:rPr>
              <a:t>increase attrition.</a:t>
            </a:r>
          </a:p>
          <a:p>
            <a:pPr fontAlgn="base">
              <a:lnSpc>
                <a:spcPct val="105000"/>
              </a:lnSpc>
            </a:pPr>
            <a:r>
              <a:rPr lang="en-US" sz="2400" dirty="0">
                <a:solidFill>
                  <a:srgbClr val="333333"/>
                </a:solidFill>
                <a:latin typeface="Montserrat"/>
              </a:rPr>
              <a:t>Multiple factors together influence attrition; no single factor is enough.</a:t>
            </a:r>
          </a:p>
          <a:p>
            <a:pPr marL="152396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141305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40B6-230D-A5D7-E047-2C7DA9C9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dk2"/>
              </a:buClr>
            </a:pPr>
            <a:r>
              <a:rPr lang="en-US" sz="3600" b="1" dirty="0">
                <a:solidFill>
                  <a:srgbClr val="1F3B73"/>
                </a:solidFill>
                <a:latin typeface="Montserrat"/>
              </a:rPr>
              <a:t>Recommendations</a:t>
            </a:r>
            <a:endParaRPr lang="en-AE" sz="3600" b="1" dirty="0">
              <a:solidFill>
                <a:srgbClr val="1F3B73"/>
              </a:solidFill>
              <a:latin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2AE819-3707-9E53-0954-C706A994B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1" y="2216872"/>
            <a:ext cx="11360800" cy="319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Support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early-career employees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with mentoring and onboarding.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Review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pay for low-income staff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to improve retention.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Manage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overtime and workload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to reduce burnout.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Improve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job satisfaction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through recognition and better work environment.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Enhance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work-life balance 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via flexible hours or remote work.</a:t>
            </a:r>
          </a:p>
          <a:p>
            <a:pPr lvl="0" defTabSz="914400" fontAlgn="base" latinLnBrk="0">
              <a:lnSpc>
                <a:spcPct val="105000"/>
              </a:lnSpc>
              <a:tabLst/>
            </a:pP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Focus on </a:t>
            </a:r>
            <a:r>
              <a:rPr lang="en-US" altLang="en-US" sz="2400" b="1" dirty="0">
                <a:solidFill>
                  <a:srgbClr val="2AA198"/>
                </a:solidFill>
                <a:latin typeface="Montserrat"/>
              </a:rPr>
              <a:t>high-risk roles</a:t>
            </a:r>
            <a:r>
              <a:rPr lang="en-US" altLang="en-US" sz="2400" dirty="0">
                <a:solidFill>
                  <a:srgbClr val="333333"/>
                </a:solidFill>
                <a:latin typeface="Montserrat"/>
              </a:rPr>
              <a:t>: Sales, Lab Technicians, operational positions.</a:t>
            </a:r>
          </a:p>
        </p:txBody>
      </p:sp>
    </p:spTree>
    <p:extLst>
      <p:ext uri="{BB962C8B-B14F-4D97-AF65-F5344CB8AC3E}">
        <p14:creationId xmlns:p14="http://schemas.microsoft.com/office/powerpoint/2010/main" val="35230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CB6EC8-A1FD-9992-A70F-B50C45D254B7}"/>
              </a:ext>
            </a:extLst>
          </p:cNvPr>
          <p:cNvSpPr txBox="1"/>
          <p:nvPr/>
        </p:nvSpPr>
        <p:spPr>
          <a:xfrm>
            <a:off x="0" y="2967335"/>
            <a:ext cx="12192000" cy="99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  <a:buClr>
                <a:schemeClr val="dk2"/>
              </a:buClr>
              <a:buSzPts val="1800"/>
            </a:pPr>
            <a:r>
              <a:rPr lang="en-US" sz="5400" b="1" dirty="0">
                <a:solidFill>
                  <a:srgbClr val="1F3B73"/>
                </a:solidFill>
                <a:latin typeface="Montserrat"/>
              </a:rPr>
              <a:t>Thank You</a:t>
            </a:r>
            <a:endParaRPr lang="en-AE" sz="5400" b="1" dirty="0">
              <a:solidFill>
                <a:srgbClr val="1F3B73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4652984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-pp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-ppt" id="{1AF30CDB-B1F9-4436-9279-5C61DC7AEEEC}" vid="{74C506D1-6F90-4CC8-9A68-C171DBEC23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Theme1-ppt</Template>
  <TotalTime>114</TotalTime>
  <Words>634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Montserrat Medium</vt:lpstr>
      <vt:lpstr>Theme1-ppt</vt:lpstr>
      <vt:lpstr>HR Employee Attrition &amp; Performance Analysis</vt:lpstr>
      <vt:lpstr>Business Context</vt:lpstr>
      <vt:lpstr>Data Preparation</vt:lpstr>
      <vt:lpstr>Excel Insights</vt:lpstr>
      <vt:lpstr>Python Insights</vt:lpstr>
      <vt:lpstr>SQL Insights</vt:lpstr>
      <vt:lpstr>Power BI Insights</vt:lpstr>
      <vt:lpstr>Tableau Insights</vt:lpstr>
      <vt:lpstr>Key Findings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Shafana Shereef</dc:creator>
  <cp:lastModifiedBy>Shafana Shereef</cp:lastModifiedBy>
  <cp:revision>3</cp:revision>
  <dcterms:created xsi:type="dcterms:W3CDTF">2026-01-29T03:01:29Z</dcterms:created>
  <dcterms:modified xsi:type="dcterms:W3CDTF">2026-01-29T04:56:15Z</dcterms:modified>
</cp:coreProperties>
</file>